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c8a533a-b327-c6ca-3fc7-adb6c4e47eb9}">
          <p14:sldIdLst>
            <p14:sldId id="256"/>
          </p14:sldIdLst>
        </p14:section>
        <p14:section name="Project" id="{467c09df-8802-b921-3225-52dcecb97c29}">
          <p14:sldIdLst>
            <p14:sldId id="257"/>
            <p14:sldId id="258"/>
          </p14:sldIdLst>
        </p14:section>
        <p14:section name="Course outcomes" id="{d522375f-c92c-62c8-b3bc-8952d61b2e38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Output" id="{e0bba442-8c73-6e47-ccc4-3901c2364cee}">
          <p14:sldIdLst>
            <p14:sldId id="266"/>
          </p14:sldIdLst>
        </p14:section>
        <p14:section name="Wrap-up" id="{441861a2-be38-c933-f98f-7c9d839b8e40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menu-driven Java application that manages books in a community library. Mention the team members and that the following slides map the project to the six course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report: what the system does, what it aims for, its benefits and scope, how it is implemented in Java and where it can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registers make library work slow and error-prone. The system must keep book, author and member information and track availability, issues and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Computational thinking: the program is planned as input, process, output. Variables, primitive types, operators and Scanner are the building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/ else-if chains route each menu choice. A nested if checks whether the book is already issued. do-while keeps the menu running until the user chooses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parallel arrays hold the titles and their issued status; index i in both refers to the same book. A for loop traverses the arrays using length. Methods used: main, nextInt, println,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describes the design with classes, objects, constructors and encapsulation. This slide shows how a Book class with a constructor would model one library item. The base program in the report uses arrays; this is the object-oriented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Strings hold titles and are joined into output lines. A linear search with equalsIgnoreCase finds a book by title. File I/O saves the issued status so records survive a restart. Outputs shown are the expected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Lambdas and streams are used as practical APIs on collections. Here a HashMap stores the issued flag for each title and a stream pipeline lists the available books. Output shown is the expected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Iterable and Collection sit at the top. List, Set and Queue extend Collection. Map is a separate hierarchy. The bottom strip shows where each would be used in the library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actual screens from the sample program execution in the report: show books, issue book 1, return book 2, then exit with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converts a manual library process into a structured Java application. The future-work items turn it into a complete digital library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"/>
            <a:ext cx="91440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979a1259-328d-5874-9776-6d3c4ec93764/scratchpad/w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65176"/>
            <a:ext cx="768096" cy="571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"/>
            <a:ext cx="91440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979a1259-328d-5874-9776-6d3c4ec93764/scratchpad/w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5552" y="265176"/>
            <a:ext cx="768096" cy="5715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Library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· B.TECH CSE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14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Library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Library Management Project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7" name="Member card"/>
          <p:cNvSpPr/>
          <p:nvPr/>
        </p:nvSpPr>
        <p:spPr>
          <a:xfrm>
            <a:off x="457200" y="3493008"/>
            <a:ext cx="2651760" cy="8686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3584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2620080080</a:t>
            </a:r>
            <a:endParaRPr lang="en-US" sz="1300" dirty="0"/>
          </a:p>
        </p:txBody>
      </p:sp>
      <p:sp>
        <p:nvSpPr>
          <p:cNvPr id="10" name="Member card"/>
          <p:cNvSpPr/>
          <p:nvPr/>
        </p:nvSpPr>
        <p:spPr>
          <a:xfrm>
            <a:off x="3291840" y="3493008"/>
            <a:ext cx="2651760" cy="8686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3584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Santhoshi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2620080081</a:t>
            </a:r>
            <a:endParaRPr lang="en-US" sz="1300" dirty="0"/>
          </a:p>
        </p:txBody>
      </p:sp>
      <p:sp>
        <p:nvSpPr>
          <p:cNvPr id="13" name="Ring outer"/>
          <p:cNvSpPr/>
          <p:nvPr/>
        </p:nvSpPr>
        <p:spPr>
          <a:xfrm>
            <a:off x="5989320" y="1417320"/>
            <a:ext cx="2743200" cy="2743200"/>
          </a:xfrm>
          <a:prstGeom prst="ellipse">
            <a:avLst/>
          </a:prstGeom>
          <a:solidFill>
            <a:srgbClr val="0F1D3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4" name="Ring inner"/>
          <p:cNvSpPr/>
          <p:nvPr/>
        </p:nvSpPr>
        <p:spPr>
          <a:xfrm>
            <a:off x="6400800" y="1828800"/>
            <a:ext cx="1920240" cy="1920240"/>
          </a:xfrm>
          <a:prstGeom prst="ellipse">
            <a:avLst/>
          </a:prstGeom>
          <a:solidFill>
            <a:srgbClr val="12294D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15" name="Image 0" descr="Boo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4688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at a glance</a:t>
            </a:r>
            <a:endParaRPr lang="en-US" sz="2600" dirty="0"/>
          </a:p>
        </p:txBody>
      </p:sp>
      <p:sp>
        <p:nvSpPr>
          <p:cNvPr id="5" name="Overview card"/>
          <p:cNvSpPr/>
          <p:nvPr/>
        </p:nvSpPr>
        <p:spPr>
          <a:xfrm>
            <a:off x="457200" y="1280160"/>
            <a:ext cx="2651760" cy="15544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621792" y="143560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7" name="Image 0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540764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70432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19933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computerized system to add, view, search, issue and return books and register members.</a:t>
            </a:r>
            <a:endParaRPr lang="en-US" sz="1200" dirty="0"/>
          </a:p>
        </p:txBody>
      </p:sp>
      <p:sp>
        <p:nvSpPr>
          <p:cNvPr id="10" name="Overview card"/>
          <p:cNvSpPr/>
          <p:nvPr/>
        </p:nvSpPr>
        <p:spPr>
          <a:xfrm>
            <a:off x="3246120" y="1280160"/>
            <a:ext cx="2651760" cy="15544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410712" y="143560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2" name="Image 1" descr="FaBulls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54076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59352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410712" y="19933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book and member records, quick search, availability check, simple issue and return.</a:t>
            </a:r>
            <a:endParaRPr lang="en-US" sz="1200" dirty="0"/>
          </a:p>
        </p:txBody>
      </p:sp>
      <p:sp>
        <p:nvSpPr>
          <p:cNvPr id="15" name="Overview card"/>
          <p:cNvSpPr/>
          <p:nvPr/>
        </p:nvSpPr>
        <p:spPr>
          <a:xfrm>
            <a:off x="6035040" y="1280160"/>
            <a:ext cx="2651760" cy="15544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199632" y="143560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7" name="Image 2" descr="FaThumbs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88" y="1540764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48272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199632" y="19933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work, faster searching, accurate availability and an easy menu-driven interface.</a:t>
            </a:r>
            <a:endParaRPr lang="en-US" sz="1200" dirty="0"/>
          </a:p>
        </p:txBody>
      </p:sp>
      <p:sp>
        <p:nvSpPr>
          <p:cNvPr id="20" name="Overview card"/>
          <p:cNvSpPr/>
          <p:nvPr/>
        </p:nvSpPr>
        <p:spPr>
          <a:xfrm>
            <a:off x="457200" y="2971800"/>
            <a:ext cx="2651760" cy="15544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1" name="Icon circle"/>
          <p:cNvSpPr/>
          <p:nvPr/>
        </p:nvSpPr>
        <p:spPr>
          <a:xfrm>
            <a:off x="621792" y="312724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22" name="Image 3" descr="FaClipboardLi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323240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70432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21792" y="36850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menu-driven Java app: show books, issue and return. A base for members and a database.</a:t>
            </a:r>
            <a:endParaRPr lang="en-US" sz="1200" dirty="0"/>
          </a:p>
        </p:txBody>
      </p:sp>
      <p:sp>
        <p:nvSpPr>
          <p:cNvPr id="25" name="Overview card"/>
          <p:cNvSpPr/>
          <p:nvPr/>
        </p:nvSpPr>
        <p:spPr>
          <a:xfrm>
            <a:off x="3246120" y="2971800"/>
            <a:ext cx="2651760" cy="15544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6" name="Icon circle"/>
          <p:cNvSpPr/>
          <p:nvPr/>
        </p:nvSpPr>
        <p:spPr>
          <a:xfrm>
            <a:off x="3410712" y="312724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27" name="Image 4" descr="Fa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868" y="3232404"/>
            <a:ext cx="210312" cy="21031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959352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3410712" y="36850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with arrays, loops, conditions and Scanner, running a do-while menu until Exit.</a:t>
            </a:r>
            <a:endParaRPr lang="en-US" sz="1200" dirty="0"/>
          </a:p>
        </p:txBody>
      </p:sp>
      <p:sp>
        <p:nvSpPr>
          <p:cNvPr id="30" name="Overview card"/>
          <p:cNvSpPr/>
          <p:nvPr/>
        </p:nvSpPr>
        <p:spPr>
          <a:xfrm>
            <a:off x="6035040" y="2971800"/>
            <a:ext cx="2651760" cy="15544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1" name="Icon circle"/>
          <p:cNvSpPr/>
          <p:nvPr/>
        </p:nvSpPr>
        <p:spPr>
          <a:xfrm>
            <a:off x="6199632" y="312724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32" name="Image 5" descr="FaRock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788" y="3232404"/>
            <a:ext cx="210312" cy="21031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748272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6199632" y="36850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login, fines, GUI, online reservation, due dates and notifications.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problem statement</a:t>
            </a:r>
            <a:endParaRPr lang="en-US" sz="2600" dirty="0"/>
          </a:p>
        </p:txBody>
      </p:sp>
      <p:sp>
        <p:nvSpPr>
          <p:cNvPr id="5" name="Problems panel"/>
          <p:cNvSpPr/>
          <p:nvPr/>
        </p:nvSpPr>
        <p:spPr>
          <a:xfrm>
            <a:off x="457200" y="1280160"/>
            <a:ext cx="4023360" cy="33832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manual records</a:t>
            </a:r>
            <a:endParaRPr lang="en-US" sz="1500" dirty="0"/>
          </a:p>
        </p:txBody>
      </p:sp>
      <p:pic>
        <p:nvPicPr>
          <p:cNvPr id="7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5681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920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locating book records</a:t>
            </a:r>
            <a:endParaRPr lang="en-US" sz="1400" dirty="0"/>
          </a:p>
        </p:txBody>
      </p:sp>
      <p:pic>
        <p:nvPicPr>
          <p:cNvPr id="9" name="Image 1" descr="pro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871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24505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while updating book availability</a:t>
            </a:r>
            <a:endParaRPr lang="en-US" sz="1400" dirty="0"/>
          </a:p>
        </p:txBody>
      </p:sp>
      <p:pic>
        <p:nvPicPr>
          <p:cNvPr id="11" name="Image 2" descr="probl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51560" y="29809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or duplication of records</a:t>
            </a:r>
            <a:endParaRPr lang="en-US" sz="1400" dirty="0"/>
          </a:p>
        </p:txBody>
      </p:sp>
      <p:pic>
        <p:nvPicPr>
          <p:cNvPr id="13" name="Image 3" descr="proble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478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51560" y="35112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issue and return</a:t>
            </a:r>
            <a:endParaRPr lang="en-US" sz="1400" dirty="0"/>
          </a:p>
        </p:txBody>
      </p:sp>
      <p:pic>
        <p:nvPicPr>
          <p:cNvPr id="15" name="Image 4" descr="proble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078224"/>
            <a:ext cx="237744" cy="2377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51560" y="40416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tracking library resources</a:t>
            </a:r>
            <a:endParaRPr lang="en-US" sz="1400" dirty="0"/>
          </a:p>
        </p:txBody>
      </p:sp>
      <p:sp>
        <p:nvSpPr>
          <p:cNvPr id="17" name="Text 9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library must manage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4754880" y="16916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475488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details</a:t>
            </a:r>
            <a:endParaRPr lang="en-US" sz="1200" dirty="0"/>
          </a:p>
        </p:txBody>
      </p:sp>
      <p:sp>
        <p:nvSpPr>
          <p:cNvPr id="20" name="Chip"/>
          <p:cNvSpPr/>
          <p:nvPr/>
        </p:nvSpPr>
        <p:spPr>
          <a:xfrm>
            <a:off x="6766560" y="16916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67665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details</a:t>
            </a:r>
            <a:endParaRPr lang="en-US" sz="1200" dirty="0"/>
          </a:p>
        </p:txBody>
      </p:sp>
      <p:sp>
        <p:nvSpPr>
          <p:cNvPr id="22" name="Chip"/>
          <p:cNvSpPr/>
          <p:nvPr/>
        </p:nvSpPr>
        <p:spPr>
          <a:xfrm>
            <a:off x="4754880" y="21488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475488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information</a:t>
            </a:r>
            <a:endParaRPr lang="en-US" sz="1200" dirty="0"/>
          </a:p>
        </p:txBody>
      </p:sp>
      <p:sp>
        <p:nvSpPr>
          <p:cNvPr id="24" name="Chip"/>
          <p:cNvSpPr/>
          <p:nvPr/>
        </p:nvSpPr>
        <p:spPr>
          <a:xfrm>
            <a:off x="6766560" y="21488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</a:t>
            </a:r>
            <a:endParaRPr lang="en-US" sz="1200" dirty="0"/>
          </a:p>
        </p:txBody>
      </p:sp>
      <p:sp>
        <p:nvSpPr>
          <p:cNvPr id="26" name="Chip"/>
          <p:cNvSpPr/>
          <p:nvPr/>
        </p:nvSpPr>
        <p:spPr>
          <a:xfrm>
            <a:off x="4754880" y="26060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47548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books</a:t>
            </a:r>
            <a:endParaRPr lang="en-US" sz="1200" dirty="0"/>
          </a:p>
        </p:txBody>
      </p:sp>
      <p:sp>
        <p:nvSpPr>
          <p:cNvPr id="28" name="Chip"/>
          <p:cNvSpPr/>
          <p:nvPr/>
        </p:nvSpPr>
        <p:spPr>
          <a:xfrm>
            <a:off x="6766560" y="260604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76656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books</a:t>
            </a:r>
            <a:endParaRPr lang="en-US" sz="1200" dirty="0"/>
          </a:p>
        </p:txBody>
      </p:sp>
      <p:sp>
        <p:nvSpPr>
          <p:cNvPr id="30" name="Solution card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1" name="Icon circle"/>
          <p:cNvSpPr/>
          <p:nvPr/>
        </p:nvSpPr>
        <p:spPr>
          <a:xfrm>
            <a:off x="4937760" y="3383280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32" name="Image 5" descr="FaCheck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97580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577840" y="3401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493776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computerized system to add books, register members, search, issue and return books, with availability updated automatically.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Computational foundation</a:t>
            </a:r>
            <a:endParaRPr lang="en-US" sz="2600" dirty="0"/>
          </a:p>
        </p:txBody>
      </p:sp>
      <p:sp>
        <p:nvSpPr>
          <p:cNvPr id="5" name="Icon circle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6" name="Image 0" descr="FaProject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401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8992" y="13075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and flowchart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78992" y="1572768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loop: read choice, decide, update, repeat.</a:t>
            </a:r>
            <a:endParaRPr lang="en-US" sz="1200" dirty="0"/>
          </a:p>
        </p:txBody>
      </p:sp>
      <p:sp>
        <p:nvSpPr>
          <p:cNvPr id="9" name="Icon circle"/>
          <p:cNvSpPr/>
          <p:nvPr/>
        </p:nvSpPr>
        <p:spPr>
          <a:xfrm>
            <a:off x="457200" y="2167128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0" name="Image 1" descr="FaCub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14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78992" y="21488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and data types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078992" y="2414016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choice, String[] books, boolean[] issued.</a:t>
            </a:r>
            <a:endParaRPr lang="en-US" sz="1200" dirty="0"/>
          </a:p>
        </p:txBody>
      </p:sp>
      <p:sp>
        <p:nvSpPr>
          <p:cNvPr id="13" name="Icon circle"/>
          <p:cNvSpPr/>
          <p:nvPr/>
        </p:nvSpPr>
        <p:spPr>
          <a:xfrm>
            <a:off x="457200" y="3008376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4" name="Image 2" descr="FaCalcula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226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78992" y="299008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078992" y="325526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!, ==, !=, &lt;, ++, ?: and the n - 1 index step.</a:t>
            </a:r>
            <a:endParaRPr lang="en-US" sz="1200" dirty="0"/>
          </a:p>
        </p:txBody>
      </p:sp>
      <p:sp>
        <p:nvSpPr>
          <p:cNvPr id="17" name="Icon circle"/>
          <p:cNvSpPr/>
          <p:nvPr/>
        </p:nvSpPr>
        <p:spPr>
          <a:xfrm>
            <a:off x="457200" y="3849624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8" name="Image 3" descr="FaKey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3924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78992" y="3831336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078992" y="409651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reads choices; println prints the menu.</a:t>
            </a:r>
            <a:endParaRPr lang="en-US" sz="1200" dirty="0"/>
          </a:p>
        </p:txBody>
      </p:sp>
      <p:sp>
        <p:nvSpPr>
          <p:cNvPr id="21" name="Code panel"/>
          <p:cNvSpPr/>
          <p:nvPr/>
        </p:nvSpPr>
        <p:spPr>
          <a:xfrm>
            <a:off x="4114800" y="1280160"/>
            <a:ext cx="4572000" cy="2798064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251960" y="1371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4251960" y="1627632"/>
            <a:ext cx="42976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sc = new Scanner(System.in);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books = {"Java", "Python",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"C Programming"};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boolean[] issued = {false, false, false};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choice;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= sc.nextInt();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251960" y="2715768"/>
            <a:ext cx="4297680" cy="0"/>
          </a:xfrm>
          <a:prstGeom prst="line">
            <a:avLst/>
          </a:prstGeom>
          <a:noFill/>
          <a:ln w="9525">
            <a:solidFill>
              <a:srgbClr val="1E3A63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251960" y="277063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4251960" y="3008376"/>
            <a:ext cx="42976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Community Library 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Show Books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Issue Book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Return Book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Exit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· Decisions and control flow</a:t>
            </a:r>
            <a:endParaRPr lang="en-US" sz="2600" dirty="0"/>
          </a:p>
        </p:txBody>
      </p:sp>
      <p:sp>
        <p:nvSpPr>
          <p:cNvPr id="5" name="Icon circle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6" name="Image 0" descr="FaCode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401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8992" y="13075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else-if chain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78992" y="157276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each menu choice to its operation.</a:t>
            </a:r>
            <a:endParaRPr lang="en-US" sz="1200" dirty="0"/>
          </a:p>
        </p:txBody>
      </p:sp>
      <p:sp>
        <p:nvSpPr>
          <p:cNvPr id="9" name="Icon circle"/>
          <p:cNvSpPr/>
          <p:nvPr/>
        </p:nvSpPr>
        <p:spPr>
          <a:xfrm>
            <a:off x="457200" y="2167128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0" name="Image 1" descr="FaRand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14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78992" y="21488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078992" y="241401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!issued before issuing a book.</a:t>
            </a:r>
            <a:endParaRPr lang="en-US" sz="1200" dirty="0"/>
          </a:p>
        </p:txBody>
      </p:sp>
      <p:sp>
        <p:nvSpPr>
          <p:cNvPr id="13" name="Icon circle"/>
          <p:cNvSpPr/>
          <p:nvPr/>
        </p:nvSpPr>
        <p:spPr>
          <a:xfrm>
            <a:off x="457200" y="3008376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4" name="Image 2" descr="FaSyn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226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78992" y="29900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078992" y="325526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repeats until choice is 4 (Exit).</a:t>
            </a:r>
            <a:endParaRPr lang="en-US" sz="1200" dirty="0"/>
          </a:p>
        </p:txBody>
      </p:sp>
      <p:sp>
        <p:nvSpPr>
          <p:cNvPr id="17" name="Icon circle"/>
          <p:cNvSpPr/>
          <p:nvPr/>
        </p:nvSpPr>
        <p:spPr>
          <a:xfrm>
            <a:off x="457200" y="3849624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8" name="Image 3" descr="FaQuote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3924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78992" y="38313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?: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078992" y="409651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Issued or Available per book.</a:t>
            </a:r>
            <a:endParaRPr lang="en-US" sz="1200" dirty="0"/>
          </a:p>
        </p:txBody>
      </p:sp>
      <p:sp>
        <p:nvSpPr>
          <p:cNvPr id="21" name="Code panel"/>
          <p:cNvSpPr/>
          <p:nvPr/>
        </p:nvSpPr>
        <p:spPr>
          <a:xfrm>
            <a:off x="3840480" y="1280160"/>
            <a:ext cx="4846320" cy="3278124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3977640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3977640" y="1627632"/>
            <a:ext cx="45720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choice = sc.nextInt();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(choice == 1) { /* show books */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(choice == 2)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(!issued[n - 1])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issued[n - 1] = true;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System.out.println("Book issued successfully.");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System.out.println("Book is already issued.");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(choice == 3) { /* return book */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(choice != 4);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977640" y="3675888"/>
            <a:ext cx="4572000" cy="0"/>
          </a:xfrm>
          <a:prstGeom prst="line">
            <a:avLst/>
          </a:prstGeom>
          <a:noFill/>
          <a:ln w="9525">
            <a:solidFill>
              <a:srgbClr val="1E3A63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3977640" y="37307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3977640" y="3968496"/>
            <a:ext cx="4572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book number: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issued successfully.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 · Methods and arrays</a:t>
            </a:r>
            <a:endParaRPr lang="en-US" sz="2600" dirty="0"/>
          </a:p>
        </p:txBody>
      </p:sp>
      <p:sp>
        <p:nvSpPr>
          <p:cNvPr id="5" name="Array panel"/>
          <p:cNvSpPr/>
          <p:nvPr/>
        </p:nvSpPr>
        <p:spPr>
          <a:xfrm>
            <a:off x="457200" y="1280160"/>
            <a:ext cx="8229600" cy="13258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books[]</a:t>
            </a:r>
            <a:endParaRPr lang="en-US" sz="1200" dirty="0"/>
          </a:p>
        </p:txBody>
      </p:sp>
      <p:sp>
        <p:nvSpPr>
          <p:cNvPr id="7" name="Array cell"/>
          <p:cNvSpPr/>
          <p:nvPr/>
        </p:nvSpPr>
        <p:spPr>
          <a:xfrm>
            <a:off x="1600200" y="1371600"/>
            <a:ext cx="1097280" cy="420624"/>
          </a:xfrm>
          <a:prstGeom prst="rect">
            <a:avLst/>
          </a:prstGeom>
          <a:solidFill>
            <a:srgbClr val="12294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00200" y="13716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050" dirty="0"/>
          </a:p>
        </p:txBody>
      </p:sp>
      <p:sp>
        <p:nvSpPr>
          <p:cNvPr id="9" name="Array cell"/>
          <p:cNvSpPr/>
          <p:nvPr/>
        </p:nvSpPr>
        <p:spPr>
          <a:xfrm>
            <a:off x="2770632" y="1371600"/>
            <a:ext cx="1097280" cy="420624"/>
          </a:xfrm>
          <a:prstGeom prst="rect">
            <a:avLst/>
          </a:prstGeom>
          <a:solidFill>
            <a:srgbClr val="12294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70632" y="13716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Array cell"/>
          <p:cNvSpPr/>
          <p:nvPr/>
        </p:nvSpPr>
        <p:spPr>
          <a:xfrm>
            <a:off x="3941064" y="1371600"/>
            <a:ext cx="1097280" cy="420624"/>
          </a:xfrm>
          <a:prstGeom prst="rect">
            <a:avLst/>
          </a:prstGeom>
          <a:solidFill>
            <a:srgbClr val="12294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41064" y="13716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Programming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82880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issued[]</a:t>
            </a:r>
            <a:endParaRPr lang="en-US" sz="1200" dirty="0"/>
          </a:p>
        </p:txBody>
      </p:sp>
      <p:sp>
        <p:nvSpPr>
          <p:cNvPr id="14" name="Array cell"/>
          <p:cNvSpPr/>
          <p:nvPr/>
        </p:nvSpPr>
        <p:spPr>
          <a:xfrm>
            <a:off x="1600200" y="1828800"/>
            <a:ext cx="1097280" cy="420624"/>
          </a:xfrm>
          <a:prstGeom prst="rect">
            <a:avLst/>
          </a:prstGeom>
          <a:solidFill>
            <a:srgbClr val="12294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00200" y="18288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Array cell"/>
          <p:cNvSpPr/>
          <p:nvPr/>
        </p:nvSpPr>
        <p:spPr>
          <a:xfrm>
            <a:off x="2770632" y="1828800"/>
            <a:ext cx="1097280" cy="420624"/>
          </a:xfrm>
          <a:prstGeom prst="rect">
            <a:avLst/>
          </a:prstGeom>
          <a:solidFill>
            <a:srgbClr val="12294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70632" y="18288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18" name="Array cell"/>
          <p:cNvSpPr/>
          <p:nvPr/>
        </p:nvSpPr>
        <p:spPr>
          <a:xfrm>
            <a:off x="3941064" y="1828800"/>
            <a:ext cx="1097280" cy="420624"/>
          </a:xfrm>
          <a:prstGeom prst="rect">
            <a:avLst/>
          </a:prstGeom>
          <a:solidFill>
            <a:srgbClr val="12294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41064" y="18288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2304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770632" y="2304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941064" y="2304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1371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books[i] and issued[i] describe one book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up to books.length visits every title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number n maps to index n - 1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runs the menu; Scanner methods read input</a:t>
            </a:r>
            <a:endParaRPr lang="en-US" sz="1200" dirty="0"/>
          </a:p>
        </p:txBody>
      </p:sp>
      <p:sp>
        <p:nvSpPr>
          <p:cNvPr id="24" name="Code panel"/>
          <p:cNvSpPr/>
          <p:nvPr/>
        </p:nvSpPr>
        <p:spPr>
          <a:xfrm>
            <a:off x="457200" y="2788920"/>
            <a:ext cx="4846320" cy="1997964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28803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313639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books.length;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System.out.println((i + 1) + ". " + books[i]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(issued[i] ? " - Issued" : " - Available"));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94360" y="3904488"/>
            <a:ext cx="4572000" cy="0"/>
          </a:xfrm>
          <a:prstGeom prst="line">
            <a:avLst/>
          </a:prstGeom>
          <a:noFill/>
          <a:ln w="9525">
            <a:solidFill>
              <a:srgbClr val="1E3A6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39593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4197096"/>
            <a:ext cx="45720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Java - Available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Python - Available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 Programming - Available</a:t>
            </a:r>
            <a:endParaRPr lang="en-US" sz="1050" dirty="0"/>
          </a:p>
        </p:txBody>
      </p:sp>
      <p:sp>
        <p:nvSpPr>
          <p:cNvPr id="30" name="Note card"/>
          <p:cNvSpPr/>
          <p:nvPr/>
        </p:nvSpPr>
        <p:spPr>
          <a:xfrm>
            <a:off x="5486400" y="2788920"/>
            <a:ext cx="3200400" cy="187452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1" name="Icon circle"/>
          <p:cNvSpPr/>
          <p:nvPr/>
        </p:nvSpPr>
        <p:spPr>
          <a:xfrm>
            <a:off x="5669280" y="2971800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32" name="Image 0" descr="Fa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436" y="3076956"/>
            <a:ext cx="210312" cy="21031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199632" y="3044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arrays here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5669280" y="3566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arrays keep the first version simple. Collections replace them in CO6 when the catalogue must grow.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 · Constructors</a:t>
            </a:r>
            <a:endParaRPr lang="en-US" sz="2600" dirty="0"/>
          </a:p>
        </p:txBody>
      </p:sp>
      <p:sp>
        <p:nvSpPr>
          <p:cNvPr id="5" name="Icon circle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6" name="Image 0" descr="FaCub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401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8992" y="1307592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and object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78992" y="157276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is the blueprint; new Book("Java") makes one.</a:t>
            </a:r>
            <a:endParaRPr lang="en-US" sz="1200" dirty="0"/>
          </a:p>
        </p:txBody>
      </p:sp>
      <p:sp>
        <p:nvSpPr>
          <p:cNvPr id="9" name="Icon circle"/>
          <p:cNvSpPr/>
          <p:nvPr/>
        </p:nvSpPr>
        <p:spPr>
          <a:xfrm>
            <a:off x="457200" y="2167128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0" name="Image 1" descr="FaC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14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78992" y="214884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078992" y="2414016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new; sets the title and issued = false.</a:t>
            </a:r>
            <a:endParaRPr lang="en-US" sz="1200" dirty="0"/>
          </a:p>
        </p:txBody>
      </p:sp>
      <p:sp>
        <p:nvSpPr>
          <p:cNvPr id="13" name="Icon circle"/>
          <p:cNvSpPr/>
          <p:nvPr/>
        </p:nvSpPr>
        <p:spPr>
          <a:xfrm>
            <a:off x="457200" y="3008376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4" name="Image 2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226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78992" y="299008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keyword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078992" y="3255264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field from the parameter.</a:t>
            </a:r>
            <a:endParaRPr lang="en-US" sz="1200" dirty="0"/>
          </a:p>
        </p:txBody>
      </p:sp>
      <p:sp>
        <p:nvSpPr>
          <p:cNvPr id="17" name="Icon circle"/>
          <p:cNvSpPr/>
          <p:nvPr/>
        </p:nvSpPr>
        <p:spPr>
          <a:xfrm>
            <a:off x="457200" y="3849624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8" name="Image 3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3924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78992" y="383133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078992" y="4096512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fields, public methods to read or change.</a:t>
            </a:r>
            <a:endParaRPr lang="en-US" sz="1200" dirty="0"/>
          </a:p>
        </p:txBody>
      </p:sp>
      <p:sp>
        <p:nvSpPr>
          <p:cNvPr id="21" name="Code panel"/>
          <p:cNvSpPr/>
          <p:nvPr/>
        </p:nvSpPr>
        <p:spPr>
          <a:xfrm>
            <a:off x="4023360" y="1280160"/>
            <a:ext cx="4663440" cy="3118104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160520" y="13716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VERSION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4160520" y="1627632"/>
            <a:ext cx="4389120" cy="215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title;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boolean issued;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Book(String title) {      // constructor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this.title = title;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this.issued = false;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isIssued() { return issued;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getTitle() { return title;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b = new Book("Java");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System.out.println(b.getTitle()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(b.isIssued() ? " - Issued" : " - Available"));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160520" y="3835908"/>
            <a:ext cx="4389120" cy="0"/>
          </a:xfrm>
          <a:prstGeom prst="line">
            <a:avLst/>
          </a:prstGeom>
          <a:noFill/>
          <a:ln w="9525">
            <a:solidFill>
              <a:srgbClr val="1E3A63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160520" y="38907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4160520" y="4128516"/>
            <a:ext cx="4389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 Available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 · Strings, algorithms and file I/O</a:t>
            </a:r>
            <a:endParaRPr lang="en-US" sz="2600" dirty="0"/>
          </a:p>
        </p:txBody>
      </p:sp>
      <p:sp>
        <p:nvSpPr>
          <p:cNvPr id="5" name="Topic card"/>
          <p:cNvSpPr/>
          <p:nvPr/>
        </p:nvSpPr>
        <p:spPr>
          <a:xfrm>
            <a:off x="457200" y="1234440"/>
            <a:ext cx="2651760" cy="128016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594360" y="1344168"/>
            <a:ext cx="384048" cy="384048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7" name="Image 0" descr="FaQuote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440180"/>
            <a:ext cx="192024" cy="1920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21792" y="1801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stored in String[] books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'+' joins number, title, 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equalsIgnoreCase() for search</a:t>
            </a:r>
            <a:endParaRPr lang="en-US" sz="1200" dirty="0"/>
          </a:p>
        </p:txBody>
      </p:sp>
      <p:sp>
        <p:nvSpPr>
          <p:cNvPr id="10" name="Topic card"/>
          <p:cNvSpPr/>
          <p:nvPr/>
        </p:nvSpPr>
        <p:spPr>
          <a:xfrm>
            <a:off x="3246120" y="1234440"/>
            <a:ext cx="2651760" cy="128016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383280" y="1344168"/>
            <a:ext cx="384048" cy="384048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2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292" y="1440180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86200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algorithms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410712" y="1801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through books[]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Arrays.sort(books) orders titles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Arrays.toString(books) prints all</a:t>
            </a:r>
            <a:endParaRPr lang="en-US" sz="1200" dirty="0"/>
          </a:p>
        </p:txBody>
      </p:sp>
      <p:sp>
        <p:nvSpPr>
          <p:cNvPr id="15" name="Topic card"/>
          <p:cNvSpPr/>
          <p:nvPr/>
        </p:nvSpPr>
        <p:spPr>
          <a:xfrm>
            <a:off x="6035040" y="1234440"/>
            <a:ext cx="2651760" cy="128016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172200" y="1344168"/>
            <a:ext cx="384048" cy="384048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7" name="Image 2" descr="FaFolder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1440180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75120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6199632" y="1801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PrintWriter saves issued 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Scanner(File) loads it 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try-with-resources closes file</a:t>
            </a:r>
            <a:endParaRPr lang="en-US" sz="1200" dirty="0"/>
          </a:p>
        </p:txBody>
      </p:sp>
      <p:sp>
        <p:nvSpPr>
          <p:cNvPr id="20" name="Code panel"/>
          <p:cNvSpPr/>
          <p:nvPr/>
        </p:nvSpPr>
        <p:spPr>
          <a:xfrm>
            <a:off x="457200" y="2606040"/>
            <a:ext cx="4572000" cy="1997964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94360" y="26974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2953512"/>
            <a:ext cx="42976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query = "python";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books.length;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(books[i].equalsIgnoreCase(query))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System.out.println("Found: " + books[i]);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94360" y="4041648"/>
            <a:ext cx="4297680" cy="0"/>
          </a:xfrm>
          <a:prstGeom prst="line">
            <a:avLst/>
          </a:prstGeom>
          <a:noFill/>
          <a:ln w="9525">
            <a:solidFill>
              <a:srgbClr val="1E3A6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94360" y="409651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94360" y="4334256"/>
            <a:ext cx="42976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Found: Python</a:t>
            </a:r>
            <a:endParaRPr lang="en-US" sz="1050" dirty="0"/>
          </a:p>
        </p:txBody>
      </p:sp>
      <p:sp>
        <p:nvSpPr>
          <p:cNvPr id="26" name="Code panel"/>
          <p:cNvSpPr/>
          <p:nvPr/>
        </p:nvSpPr>
        <p:spPr>
          <a:xfrm>
            <a:off x="5212080" y="2606040"/>
            <a:ext cx="3474720" cy="2157984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349240" y="2697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FILE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349240" y="2953512"/>
            <a:ext cx="320040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(PrintWriter pw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new PrintWriter("lib.txt"))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(boolean s : issued)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pw.println(s);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349240" y="3881628"/>
            <a:ext cx="3200400" cy="0"/>
          </a:xfrm>
          <a:prstGeom prst="line">
            <a:avLst/>
          </a:prstGeom>
          <a:noFill/>
          <a:ln w="9525">
            <a:solidFill>
              <a:srgbClr val="1E3A6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49240" y="39364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lib.txt CONTAINS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349240" y="4174236"/>
            <a:ext cx="32004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CO6 · Functional programming with Streams</a:t>
            </a:r>
            <a:endParaRPr lang="en-US" sz="2600" dirty="0"/>
          </a:p>
        </p:txBody>
      </p:sp>
      <p:sp>
        <p:nvSpPr>
          <p:cNvPr id="5" name="Icon circle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6" name="Image 0" descr="Fa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401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8992" y="1307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expressions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78992" y="157276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-&gt; !issued.get(b) tests one book.</a:t>
            </a:r>
            <a:endParaRPr lang="en-US" sz="1200" dirty="0"/>
          </a:p>
        </p:txBody>
      </p:sp>
      <p:sp>
        <p:nvSpPr>
          <p:cNvPr id="9" name="Icon circle"/>
          <p:cNvSpPr/>
          <p:nvPr/>
        </p:nvSpPr>
        <p:spPr>
          <a:xfrm>
            <a:off x="457200" y="2167128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0" name="Image 1" descr="FaStre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8142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78992" y="21488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pipeline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078992" y="241401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map, forEach in one chain.</a:t>
            </a:r>
            <a:endParaRPr lang="en-US" sz="1200" dirty="0"/>
          </a:p>
        </p:txBody>
      </p:sp>
      <p:sp>
        <p:nvSpPr>
          <p:cNvPr id="13" name="Icon circle"/>
          <p:cNvSpPr/>
          <p:nvPr/>
        </p:nvSpPr>
        <p:spPr>
          <a:xfrm>
            <a:off x="457200" y="3008376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4" name="Image 2" descr="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226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78992" y="29900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references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078992" y="325526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String::toUpperCase, System.out::println.</a:t>
            </a:r>
            <a:endParaRPr lang="en-US" sz="1200" dirty="0"/>
          </a:p>
        </p:txBody>
      </p:sp>
      <p:sp>
        <p:nvSpPr>
          <p:cNvPr id="17" name="Icon circle"/>
          <p:cNvSpPr/>
          <p:nvPr/>
        </p:nvSpPr>
        <p:spPr>
          <a:xfrm>
            <a:off x="457200" y="3849624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8" name="Image 3" descr="FaLi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63924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78992" y="38313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as data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078992" y="40965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holds titles; Map holds status.</a:t>
            </a:r>
            <a:endParaRPr lang="en-US" sz="1200" dirty="0"/>
          </a:p>
        </p:txBody>
      </p:sp>
      <p:sp>
        <p:nvSpPr>
          <p:cNvPr id="21" name="Code panel"/>
          <p:cNvSpPr/>
          <p:nvPr/>
        </p:nvSpPr>
        <p:spPr>
          <a:xfrm>
            <a:off x="3931920" y="1280160"/>
            <a:ext cx="4754880" cy="2798064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4069080" y="13716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STREAMS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4069080" y="1627632"/>
            <a:ext cx="44805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books = List.of("Java",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"Python", "C Programming");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Boolean&gt; issued = new HashMap&lt;&gt;();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books.forEach(b -&gt; issued.put(b, false));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issued.put("Python", true);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books.stream()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.filter(b -&gt; !issued.get(b))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.map(String::toUpperCase)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.forEach(System.out::println);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069080" y="3355848"/>
            <a:ext cx="4480560" cy="0"/>
          </a:xfrm>
          <a:prstGeom prst="line">
            <a:avLst/>
          </a:prstGeom>
          <a:noFill/>
          <a:ln w="9525">
            <a:solidFill>
              <a:srgbClr val="1E3A63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069080" y="34107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(PYTHON IS ISSUED)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4069080" y="3648456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PROGRAMMING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COLLECTIONS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framework map</a:t>
            </a:r>
            <a:endParaRPr lang="en-US" sz="2600" dirty="0"/>
          </a:p>
        </p:txBody>
      </p:sp>
      <p:sp>
        <p:nvSpPr>
          <p:cNvPr id="5" name="Map box"/>
          <p:cNvSpPr/>
          <p:nvPr/>
        </p:nvSpPr>
        <p:spPr>
          <a:xfrm>
            <a:off x="2651760" y="1280160"/>
            <a:ext cx="1463040" cy="347472"/>
          </a:xfrm>
          <a:prstGeom prst="rect">
            <a:avLst/>
          </a:prstGeom>
          <a:solidFill>
            <a:srgbClr val="0F1D3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651760" y="1280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</a:t>
            </a:r>
            <a:endParaRPr lang="en-US" sz="1200" dirty="0"/>
          </a:p>
        </p:txBody>
      </p:sp>
      <p:sp>
        <p:nvSpPr>
          <p:cNvPr id="7" name="Map box"/>
          <p:cNvSpPr/>
          <p:nvPr/>
        </p:nvSpPr>
        <p:spPr>
          <a:xfrm>
            <a:off x="2651760" y="1810512"/>
            <a:ext cx="1463040" cy="347472"/>
          </a:xfrm>
          <a:prstGeom prst="rect">
            <a:avLst/>
          </a:prstGeom>
          <a:solidFill>
            <a:srgbClr val="0F1D3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51760" y="18105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1627632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2157984"/>
            <a:ext cx="0" cy="15544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1600" y="2313432"/>
            <a:ext cx="40233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231343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94960" y="231343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231343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Map box"/>
          <p:cNvSpPr/>
          <p:nvPr/>
        </p:nvSpPr>
        <p:spPr>
          <a:xfrm>
            <a:off x="457200" y="2514600"/>
            <a:ext cx="18288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400" dirty="0"/>
          </a:p>
        </p:txBody>
      </p:sp>
      <p:sp>
        <p:nvSpPr>
          <p:cNvPr id="17" name="Map box"/>
          <p:cNvSpPr/>
          <p:nvPr/>
        </p:nvSpPr>
        <p:spPr>
          <a:xfrm>
            <a:off x="548640" y="3017520"/>
            <a:ext cx="1645920" cy="365760"/>
          </a:xfrm>
          <a:prstGeom prst="rect">
            <a:avLst/>
          </a:prstGeom>
          <a:solidFill>
            <a:srgbClr val="12294D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200" dirty="0"/>
          </a:p>
        </p:txBody>
      </p:sp>
      <p:sp>
        <p:nvSpPr>
          <p:cNvPr id="19" name="Map box"/>
          <p:cNvSpPr/>
          <p:nvPr/>
        </p:nvSpPr>
        <p:spPr>
          <a:xfrm>
            <a:off x="548640" y="3474720"/>
            <a:ext cx="1645920" cy="365760"/>
          </a:xfrm>
          <a:prstGeom prst="rect">
            <a:avLst/>
          </a:prstGeom>
          <a:solidFill>
            <a:srgbClr val="12294D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200" dirty="0"/>
          </a:p>
        </p:txBody>
      </p:sp>
      <p:sp>
        <p:nvSpPr>
          <p:cNvPr id="21" name="Map box"/>
          <p:cNvSpPr/>
          <p:nvPr/>
        </p:nvSpPr>
        <p:spPr>
          <a:xfrm>
            <a:off x="2468880" y="2514600"/>
            <a:ext cx="18288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46888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400" dirty="0"/>
          </a:p>
        </p:txBody>
      </p:sp>
      <p:sp>
        <p:nvSpPr>
          <p:cNvPr id="23" name="Map box"/>
          <p:cNvSpPr/>
          <p:nvPr/>
        </p:nvSpPr>
        <p:spPr>
          <a:xfrm>
            <a:off x="2560320" y="3017520"/>
            <a:ext cx="1645920" cy="365760"/>
          </a:xfrm>
          <a:prstGeom prst="rect">
            <a:avLst/>
          </a:prstGeom>
          <a:solidFill>
            <a:srgbClr val="12294D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56032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</a:t>
            </a:r>
            <a:endParaRPr lang="en-US" sz="1200" dirty="0"/>
          </a:p>
        </p:txBody>
      </p:sp>
      <p:sp>
        <p:nvSpPr>
          <p:cNvPr id="25" name="Map box"/>
          <p:cNvSpPr/>
          <p:nvPr/>
        </p:nvSpPr>
        <p:spPr>
          <a:xfrm>
            <a:off x="2560320" y="3474720"/>
            <a:ext cx="1645920" cy="365760"/>
          </a:xfrm>
          <a:prstGeom prst="rect">
            <a:avLst/>
          </a:prstGeom>
          <a:solidFill>
            <a:srgbClr val="12294D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56032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TreeSet</a:t>
            </a:r>
            <a:endParaRPr lang="en-US" sz="1200" dirty="0"/>
          </a:p>
        </p:txBody>
      </p:sp>
      <p:sp>
        <p:nvSpPr>
          <p:cNvPr id="27" name="Map box"/>
          <p:cNvSpPr/>
          <p:nvPr/>
        </p:nvSpPr>
        <p:spPr>
          <a:xfrm>
            <a:off x="4480560" y="2514600"/>
            <a:ext cx="18288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48056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400" dirty="0"/>
          </a:p>
        </p:txBody>
      </p:sp>
      <p:sp>
        <p:nvSpPr>
          <p:cNvPr id="29" name="Map box"/>
          <p:cNvSpPr/>
          <p:nvPr/>
        </p:nvSpPr>
        <p:spPr>
          <a:xfrm>
            <a:off x="4572000" y="3017520"/>
            <a:ext cx="1645920" cy="365760"/>
          </a:xfrm>
          <a:prstGeom prst="rect">
            <a:avLst/>
          </a:prstGeom>
          <a:solidFill>
            <a:srgbClr val="12294D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200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ArrayDeque</a:t>
            </a:r>
            <a:endParaRPr lang="en-US" sz="1200" dirty="0"/>
          </a:p>
        </p:txBody>
      </p:sp>
      <p:sp>
        <p:nvSpPr>
          <p:cNvPr id="31" name="Map box"/>
          <p:cNvSpPr/>
          <p:nvPr/>
        </p:nvSpPr>
        <p:spPr>
          <a:xfrm>
            <a:off x="4572000" y="3474720"/>
            <a:ext cx="1645920" cy="365760"/>
          </a:xfrm>
          <a:prstGeom prst="rect">
            <a:avLst/>
          </a:prstGeom>
          <a:solidFill>
            <a:srgbClr val="12294D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</a:t>
            </a:r>
            <a:endParaRPr lang="en-US" sz="1200" dirty="0"/>
          </a:p>
        </p:txBody>
      </p:sp>
      <p:sp>
        <p:nvSpPr>
          <p:cNvPr id="33" name="Map box"/>
          <p:cNvSpPr/>
          <p:nvPr/>
        </p:nvSpPr>
        <p:spPr>
          <a:xfrm>
            <a:off x="6858000" y="2514600"/>
            <a:ext cx="18288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35" name="Map box"/>
          <p:cNvSpPr/>
          <p:nvPr/>
        </p:nvSpPr>
        <p:spPr>
          <a:xfrm>
            <a:off x="6949440" y="3017520"/>
            <a:ext cx="1645920" cy="365760"/>
          </a:xfrm>
          <a:prstGeom prst="rect">
            <a:avLst/>
          </a:prstGeom>
          <a:solidFill>
            <a:srgbClr val="12294D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94944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200" dirty="0"/>
          </a:p>
        </p:txBody>
      </p:sp>
      <p:sp>
        <p:nvSpPr>
          <p:cNvPr id="37" name="Map box"/>
          <p:cNvSpPr/>
          <p:nvPr/>
        </p:nvSpPr>
        <p:spPr>
          <a:xfrm>
            <a:off x="6949440" y="3474720"/>
            <a:ext cx="1645920" cy="365760"/>
          </a:xfrm>
          <a:prstGeom prst="rect">
            <a:avLst/>
          </a:prstGeom>
          <a:solidFill>
            <a:srgbClr val="12294D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494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583680" y="1828800"/>
            <a:ext cx="0" cy="20116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76656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hierarchy (key to value)</a:t>
            </a:r>
            <a:endParaRPr lang="en-US" sz="1000" dirty="0"/>
          </a:p>
        </p:txBody>
      </p:sp>
      <p:sp>
        <p:nvSpPr>
          <p:cNvPr id="41" name="Usage strip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CLMS: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ArrayList&lt;Book&gt; catalogue  ·  HashMap&lt;id, Book&gt; quick lookup  ·  HashSet of member IDs  ·  Queue of reservations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PROGRAM EXECUTION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output</a:t>
            </a:r>
            <a:endParaRPr lang="en-US" sz="2600" dirty="0"/>
          </a:p>
        </p:txBody>
      </p:sp>
      <p:pic>
        <p:nvPicPr>
          <p:cNvPr id="5" name="Image 0" descr="Console output of the Library program: menu, show books, issue and retu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31920" cy="2720873"/>
          </a:xfrm>
          <a:prstGeom prst="rect">
            <a:avLst/>
          </a:prstGeom>
        </p:spPr>
      </p:pic>
      <p:pic>
        <p:nvPicPr>
          <p:cNvPr id="6" name="Image 1" descr="Console output: choice 4 prints Thank you!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01033"/>
            <a:ext cx="3931920" cy="604274"/>
          </a:xfrm>
          <a:prstGeom prst="rect">
            <a:avLst/>
          </a:prstGeom>
        </p:spPr>
      </p:pic>
      <p:sp>
        <p:nvSpPr>
          <p:cNvPr id="7" name="Icon circle"/>
          <p:cNvSpPr/>
          <p:nvPr/>
        </p:nvSpPr>
        <p:spPr>
          <a:xfrm>
            <a:off x="4937760" y="1325880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8" name="Image 2" descr="Fa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440180"/>
            <a:ext cx="228600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559552" y="130759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Show Books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5559552" y="1572768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titles are Available.</a:t>
            </a:r>
            <a:endParaRPr lang="en-US" sz="1200" dirty="0"/>
          </a:p>
        </p:txBody>
      </p:sp>
      <p:sp>
        <p:nvSpPr>
          <p:cNvPr id="11" name="Icon circle"/>
          <p:cNvSpPr/>
          <p:nvPr/>
        </p:nvSpPr>
        <p:spPr>
          <a:xfrm>
            <a:off x="4937760" y="2167128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2" name="Image 3" descr="FaExchang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2281428"/>
            <a:ext cx="228600" cy="2286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559552" y="2148840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Issue Book</a:t>
            </a:r>
            <a:endParaRPr lang="en-US" sz="1400" dirty="0"/>
          </a:p>
        </p:txBody>
      </p:sp>
      <p:sp>
        <p:nvSpPr>
          <p:cNvPr id="14" name="Text 7"/>
          <p:cNvSpPr txBox="1"/>
          <p:nvPr/>
        </p:nvSpPr>
        <p:spPr>
          <a:xfrm>
            <a:off x="5559552" y="2414016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1 prints: Book issued successfully.</a:t>
            </a:r>
            <a:endParaRPr lang="en-US" sz="1200" dirty="0"/>
          </a:p>
        </p:txBody>
      </p:sp>
      <p:sp>
        <p:nvSpPr>
          <p:cNvPr id="15" name="Icon circle"/>
          <p:cNvSpPr/>
          <p:nvPr/>
        </p:nvSpPr>
        <p:spPr>
          <a:xfrm>
            <a:off x="4937760" y="3008376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6" name="Image 4" descr="FaSyn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3122676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559552" y="299008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Return Book</a:t>
            </a:r>
            <a:endParaRPr lang="en-US" sz="1400" dirty="0"/>
          </a:p>
        </p:txBody>
      </p:sp>
      <p:sp>
        <p:nvSpPr>
          <p:cNvPr id="18" name="Text 10"/>
          <p:cNvSpPr txBox="1"/>
          <p:nvPr/>
        </p:nvSpPr>
        <p:spPr>
          <a:xfrm>
            <a:off x="5559552" y="3255264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2 prints: Book returned successfully.</a:t>
            </a:r>
            <a:endParaRPr lang="en-US" sz="1200" dirty="0"/>
          </a:p>
        </p:txBody>
      </p:sp>
      <p:sp>
        <p:nvSpPr>
          <p:cNvPr id="19" name="Icon circle"/>
          <p:cNvSpPr/>
          <p:nvPr/>
        </p:nvSpPr>
        <p:spPr>
          <a:xfrm>
            <a:off x="4937760" y="3849624"/>
            <a:ext cx="457200" cy="457200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20" name="Image 5" descr="FaCheck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963924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559552" y="3831336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Exit</a:t>
            </a:r>
            <a:endParaRPr lang="en-US" sz="1400" dirty="0"/>
          </a:p>
        </p:txBody>
      </p:sp>
      <p:sp>
        <p:nvSpPr>
          <p:cNvPr id="22" name="Text 13"/>
          <p:cNvSpPr txBox="1"/>
          <p:nvPr/>
        </p:nvSpPr>
        <p:spPr>
          <a:xfrm>
            <a:off x="5559552" y="409651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ends and prints: Thank you!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2600" dirty="0"/>
          </a:p>
        </p:txBody>
      </p:sp>
      <p:sp>
        <p:nvSpPr>
          <p:cNvPr id="5" name="Conclusion panel"/>
          <p:cNvSpPr/>
          <p:nvPr/>
        </p:nvSpPr>
        <p:spPr>
          <a:xfrm>
            <a:off x="457200" y="1280160"/>
            <a:ext cx="3840480" cy="338328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register-based tracking with a menu-driven Java program.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return update book availability automatically.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conditions, loops and Scanner form a base ready for classes, collections and files.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reliable and easy to extend into a full digital library.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Future card"/>
          <p:cNvSpPr/>
          <p:nvPr/>
        </p:nvSpPr>
        <p:spPr>
          <a:xfrm>
            <a:off x="4572000" y="1691640"/>
            <a:ext cx="2011680" cy="91440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681728" y="193852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1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6884" y="204368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93792" y="17830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13" name="Future card"/>
          <p:cNvSpPr/>
          <p:nvPr/>
        </p:nvSpPr>
        <p:spPr>
          <a:xfrm>
            <a:off x="6675120" y="1691640"/>
            <a:ext cx="2011680" cy="91440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784848" y="193852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5" name="Image 1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04" y="2043684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96912" y="17830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17" name="Future card"/>
          <p:cNvSpPr/>
          <p:nvPr/>
        </p:nvSpPr>
        <p:spPr>
          <a:xfrm>
            <a:off x="4572000" y="2697480"/>
            <a:ext cx="2011680" cy="91440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4681728" y="294436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19" name="Image 2" descr="FaCo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84" y="304952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93792" y="27889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management</a:t>
            </a:r>
            <a:endParaRPr lang="en-US" sz="1200" dirty="0"/>
          </a:p>
        </p:txBody>
      </p:sp>
      <p:sp>
        <p:nvSpPr>
          <p:cNvPr id="21" name="Future card"/>
          <p:cNvSpPr/>
          <p:nvPr/>
        </p:nvSpPr>
        <p:spPr>
          <a:xfrm>
            <a:off x="6675120" y="2697480"/>
            <a:ext cx="2011680" cy="91440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2" name="Icon circle"/>
          <p:cNvSpPr/>
          <p:nvPr/>
        </p:nvSpPr>
        <p:spPr>
          <a:xfrm>
            <a:off x="6784848" y="294436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23" name="Image 3" descr="FaDeskt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004" y="3049524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96912" y="27889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(JavaFX / Swing)</a:t>
            </a:r>
            <a:endParaRPr lang="en-US" sz="1200" dirty="0"/>
          </a:p>
        </p:txBody>
      </p:sp>
      <p:sp>
        <p:nvSpPr>
          <p:cNvPr id="25" name="Future card"/>
          <p:cNvSpPr/>
          <p:nvPr/>
        </p:nvSpPr>
        <p:spPr>
          <a:xfrm>
            <a:off x="4572000" y="3703320"/>
            <a:ext cx="2011680" cy="91440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26" name="Icon circle"/>
          <p:cNvSpPr/>
          <p:nvPr/>
        </p:nvSpPr>
        <p:spPr>
          <a:xfrm>
            <a:off x="4681728" y="395020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27" name="Image 4" descr="FaGlob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884" y="4055364"/>
            <a:ext cx="210312" cy="21031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93792" y="37947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reservation</a:t>
            </a:r>
            <a:endParaRPr lang="en-US" sz="1200" dirty="0"/>
          </a:p>
        </p:txBody>
      </p:sp>
      <p:sp>
        <p:nvSpPr>
          <p:cNvPr id="29" name="Future card"/>
          <p:cNvSpPr/>
          <p:nvPr/>
        </p:nvSpPr>
        <p:spPr>
          <a:xfrm>
            <a:off x="6675120" y="3703320"/>
            <a:ext cx="2011680" cy="914400"/>
          </a:xfrm>
          <a:prstGeom prst="rect">
            <a:avLst/>
          </a:prstGeom>
          <a:solidFill>
            <a:srgbClr val="0F1D38"/>
          </a:solidFill>
          <a:ln w="9525">
            <a:solidFill>
              <a:srgbClr val="1E3A63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6784848" y="3950208"/>
            <a:ext cx="420624" cy="420624"/>
          </a:xfrm>
          <a:prstGeom prst="ellipse">
            <a:avLst/>
          </a:prstGeom>
          <a:solidFill>
            <a:srgbClr val="12294D"/>
          </a:solidFill>
          <a:ln w="9525">
            <a:solidFill>
              <a:srgbClr val="1E3A63"/>
            </a:solidFill>
            <a:prstDash val="solid"/>
          </a:ln>
        </p:spPr>
      </p:sp>
      <p:pic>
        <p:nvPicPr>
          <p:cNvPr id="31" name="Image 5" descr="FaBe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0004" y="4055364"/>
            <a:ext cx="210312" cy="2103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96912" y="37947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Due-date notifications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ng outer"/>
          <p:cNvSpPr/>
          <p:nvPr/>
        </p:nvSpPr>
        <p:spPr>
          <a:xfrm>
            <a:off x="5989320" y="1417320"/>
            <a:ext cx="2743200" cy="2743200"/>
          </a:xfrm>
          <a:prstGeom prst="ellipse">
            <a:avLst/>
          </a:prstGeom>
          <a:solidFill>
            <a:srgbClr val="0F1D38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4" name="Ring inner"/>
          <p:cNvSpPr/>
          <p:nvPr/>
        </p:nvSpPr>
        <p:spPr>
          <a:xfrm>
            <a:off x="6400800" y="1828800"/>
            <a:ext cx="1920240" cy="1920240"/>
          </a:xfrm>
          <a:prstGeom prst="ellipse">
            <a:avLst/>
          </a:prstGeom>
          <a:solidFill>
            <a:srgbClr val="12294D"/>
          </a:solidFill>
          <a:ln w="15875">
            <a:solidFill>
              <a:srgbClr val="38BDF8"/>
            </a:solidFill>
            <a:prstDash val="solid"/>
          </a:ln>
        </p:spPr>
      </p:sp>
      <p:pic>
        <p:nvPicPr>
          <p:cNvPr id="5" name="Image 0" descr="Boo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468880"/>
            <a:ext cx="640080" cy="640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463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Library Management System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 ·  Santhoshi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MS Dark">
  <a:themeElements>
    <a:clrScheme name="CLMS Dark">
      <a:dk1>
        <a:srgbClr val="070B14"/>
      </a:dk1>
      <a:lt1>
        <a:srgbClr val="FFFFFF"/>
      </a:lt1>
      <a:dk2>
        <a:srgbClr val="0F1D38"/>
      </a:dk2>
      <a:lt2>
        <a:srgbClr val="F8FAFC"/>
      </a:lt2>
      <a:accent1>
        <a:srgbClr val="38BDF8"/>
      </a:accent1>
      <a:accent2>
        <a:srgbClr val="86EFAC"/>
      </a:accent2>
      <a:accent3>
        <a:srgbClr val="F59E0B"/>
      </a:accent3>
      <a:accent4>
        <a:srgbClr val="A78BFA"/>
      </a:accent4>
      <a:accent5>
        <a:srgbClr val="F472B6"/>
      </a:accent5>
      <a:accent6>
        <a:srgbClr val="34D399"/>
      </a:accent6>
      <a:hlink>
        <a:srgbClr val="38BDF8"/>
      </a:hlink>
      <a:folHlink>
        <a:srgbClr val="94A3B8"/>
      </a:folHlink>
    </a:clrScheme>
    <a:fontScheme name="CLMS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Library Management System</dc:title>
  <dc:subject>PptxGenJS Presentation</dc:subject>
  <dc:creator>Sneha, Santhoshi</dc:creator>
  <cp:lastModifiedBy>Sneha, Santhoshi</cp:lastModifiedBy>
  <cp:revision>1</cp:revision>
  <dcterms:created xsi:type="dcterms:W3CDTF">2026-10-15T19:31:10Z</dcterms:created>
  <dcterms:modified xsi:type="dcterms:W3CDTF">2026-10-15T19:31:10Z</dcterms:modified>
</cp:coreProperties>
</file>